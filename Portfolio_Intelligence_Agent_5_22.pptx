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Portfolio Intelligence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EDF5"/>
                </a:solidFill>
              </a:rPr>
              <a:t>AI 기반 포트폴리오 모니터링 &amp; 인텔리전스 시스템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200400"/>
            <a:ext cx="41148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BDC3C7"/>
                </a:solidFill>
              </a:rPr>
              <a:t>사업개발팀  | 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0392B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01  왜 지금 필요한가?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486400" cy="210312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정보 과부하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3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13개사, 수백 개 뉴스 소스를 팀이 수작업으로
모니터링 → 중요 시그널 누락 위험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486400" cy="210312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19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대응 지연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3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IPO·M&amp;A·C레벨 사임 등 즉시검토 시그널을
당일 인지 못해 의사결정 공백 발생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5486400" cy="210312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커뮤니케이션 비효율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파트너사 업데이트·투자자 보고 초안 작성에
팀원 시간 과도 소요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486400" cy="210312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7947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통합 뷰 부재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9768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포트폴리오 현황을 한눈에 볼 수 있는
대시보드 없음 → 보고 준비에 추가 시간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02  솔루션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8EDF5"/>
                </a:solidFill>
              </a:rPr>
              <a:t>자동 수집 → AI 분류 → 즉시 알림 → 대시보드 시각화를 완전 자동화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74320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2743200" cy="502920"/>
          </a:xfrm>
          <a:prstGeom prst="rect">
            <a:avLst/>
          </a:prstGeom>
          <a:solidFill>
            <a:srgbClr val="2C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자동 수집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2743200" cy="2560320"/>
          </a:xfrm>
          <a:prstGeom prst="rect">
            <a:avLst/>
          </a:prstGeom>
          <a:solidFill>
            <a:srgbClr val="1E2A45"/>
          </a:solidFill>
          <a:ln w="6350">
            <a:solidFill>
              <a:srgbClr val="2C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Google News + RSS
13개사 × 5개 키워드
매일 06:00 자동 실행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1828800"/>
            <a:ext cx="274320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8288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423160"/>
            <a:ext cx="2743200" cy="502920"/>
          </a:xfrm>
          <a:prstGeom prst="rect">
            <a:avLst/>
          </a:prstGeom>
          <a:solidFill>
            <a:srgbClr val="2C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423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AI 분류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2926080"/>
            <a:ext cx="2743200" cy="2560320"/>
          </a:xfrm>
          <a:prstGeom prst="rect">
            <a:avLst/>
          </a:prstGeom>
          <a:solidFill>
            <a:srgbClr val="1E2A45"/>
          </a:solidFill>
          <a:ln w="6350">
            <a:solidFill>
              <a:srgbClr val="2C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0" y="301752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Groq LLaMA-3.3-70B
감성·시그널·중요도
48h 캐시 비용 절감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274320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8288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423160"/>
            <a:ext cx="2743200" cy="502920"/>
          </a:xfrm>
          <a:prstGeom prst="rect">
            <a:avLst/>
          </a:prstGeom>
          <a:solidFill>
            <a:srgbClr val="2C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423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즉시 알림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926080"/>
            <a:ext cx="2743200" cy="2560320"/>
          </a:xfrm>
          <a:prstGeom prst="rect">
            <a:avLst/>
          </a:prstGeom>
          <a:solidFill>
            <a:srgbClr val="1E2A45"/>
          </a:solidFill>
          <a:ln w="6350">
            <a:solidFill>
              <a:srgbClr val="2C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01752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Telegram 실시간
이메일 Daily 리포트
즉시검토 즉시 / 동향주시 일괄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35440" y="1828800"/>
            <a:ext cx="2743200" cy="5943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8288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2423160"/>
            <a:ext cx="2743200" cy="502920"/>
          </a:xfrm>
          <a:prstGeom prst="rect">
            <a:avLst/>
          </a:prstGeom>
          <a:solidFill>
            <a:srgbClr val="2C3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242316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대시보드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2926080"/>
            <a:ext cx="2743200" cy="2560320"/>
          </a:xfrm>
          <a:prstGeom prst="rect">
            <a:avLst/>
          </a:prstGeom>
          <a:solidFill>
            <a:srgbClr val="1E2A45"/>
          </a:solidFill>
          <a:ln w="6350">
            <a:solidFill>
              <a:srgbClr val="2C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3017520"/>
            <a:ext cx="2560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포트폴리오 현황
Weekly·Monthly 분석
커뮤니케이션 초안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03  시스템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8346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데이터 수집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2834640" cy="4206240"/>
          </a:xfrm>
          <a:prstGeom prst="rect">
            <a:avLst/>
          </a:prstGeom>
          <a:solidFill>
            <a:srgbClr val="0D3349"/>
          </a:solidFill>
          <a:ln w="6350"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783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collector.py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58775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Google News RSS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39242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feedparser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4197096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병렬 5 워커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188720"/>
            <a:ext cx="28346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188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분류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645920"/>
            <a:ext cx="2834640" cy="4206240"/>
          </a:xfrm>
          <a:prstGeom prst="rect">
            <a:avLst/>
          </a:prstGeom>
          <a:solidFill>
            <a:srgbClr val="1A3A2E"/>
          </a:solidFill>
          <a:ln w="6350"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79" y="1783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classifier_groq.py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258775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Groq LLaMA-3.3-70B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79" y="339242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트리아지 필터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79" y="4197096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48h SQLite 캐시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188720"/>
            <a:ext cx="28346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188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저장 &amp; 알림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1645920"/>
            <a:ext cx="2834640" cy="4206240"/>
          </a:xfrm>
          <a:prstGeom prst="rect">
            <a:avLst/>
          </a:prstGeom>
          <a:solidFill>
            <a:srgbClr val="2E1A1A"/>
          </a:solidFill>
          <a:ln w="6350"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783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signal_db.py (WAL)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8775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dispatcher.py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39242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Telegram Bot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197096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SMTP 이메일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1188720"/>
            <a:ext cx="28346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1188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프레젠테이션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89720" y="1645920"/>
            <a:ext cx="2834640" cy="4206240"/>
          </a:xfrm>
          <a:prstGeom prst="rect">
            <a:avLst/>
          </a:prstGeom>
          <a:solidFill>
            <a:srgbClr val="1A1A3A"/>
          </a:solidFill>
          <a:ln w="6350">
            <a:solidFill>
              <a:srgbClr val="3A4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1783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dashboard.html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587752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Daily·Weekly·Monthly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392424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커뮤니케이션 초안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197096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main.py 스케줄러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DC3C7"/>
                </a:solidFill>
              </a:rPr>
              <a:t>main.py — 매일 06:00 자동 실행 · 오류 발생 시 Telegram 즉시 알림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04  핵심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486400" cy="237744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즉시검토/동향주시/일반 3단계 분류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928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즉시검토: IPO·M&amp;A·C레벨 사임·소송 → Telegram 즉시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140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동향주시: 펀딩협상·임원이동·신제품 → 일일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352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일반: PR·동향 → 주간 리포트 집계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486400" cy="237744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⚡ 고속 파이프라인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9280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병렬 수집 (ThreadPoolExecutor 5워커)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140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48시간 캐시 → Groq 호출 최소화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935224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전체 실행 ~5분 (기존 대비 3-4배 단축)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749039"/>
            <a:ext cx="5486400" cy="237744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86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커뮤니케이션 초안 자동화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0740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Claude Sonnet 기반 초안 자동 생성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286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파트너사 업데이트·투자자 보고 초안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44982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업체별 토글 UI, 1클릭 복사·편집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749039"/>
            <a:ext cx="5486400" cy="237744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8862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통합 대시보드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40740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Daily·Weekly·Monthly 탭 분리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928616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시그널 카드 + 원문 링크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5449823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DF5"/>
                </a:solidFill>
              </a:rPr>
              <a:t>• 13개사 리스크 등급 매트릭스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05  투자 대비 효과 (ROI)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743200" cy="219456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392B"/>
                </a:solidFill>
              </a:rPr>
              <a:t>~5분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파이프라인 실행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99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수작업 대비 대폭 단축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2743200" cy="219456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508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392B"/>
                </a:solidFill>
              </a:rPr>
              <a:t>$0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분류 API 비용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999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Groq 무료 플랜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71600"/>
            <a:ext cx="2743200" cy="219456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392B"/>
                </a:solidFill>
              </a:rPr>
              <a:t>13개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동시 모니터링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99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포트폴리오 전사 커버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372600" y="1371600"/>
            <a:ext cx="2743200" cy="219456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72600" y="150876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C0392B"/>
                </a:solidFill>
              </a:rPr>
              <a:t>24/7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무중단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29992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C3C7"/>
                </a:solidFill>
              </a:rPr>
              <a:t>자동 스케줄 실행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794760"/>
            <a:ext cx="11430000" cy="2377440"/>
          </a:xfrm>
          <a:prstGeom prst="rect">
            <a:avLst/>
          </a:prstGeom>
          <a:solidFill>
            <a:srgbClr val="1E2A45"/>
          </a:solidFill>
          <a:ln w="6350">
            <a:solidFill>
              <a:srgbClr val="2C3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776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즉시검토 시그널 당일 인지 → 이사회 대응 시간 확보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988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주간·월간 리포트 자동 생성 → 보고 준비 시간 대폭 절감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02005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커뮤니케이션 초안 자동화 → 팀원 1인당 주 2-3시간 절약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541264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48h 캐시 → 동일 기사 재분류 없음, 무료 한도 내 운영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06  라이브 대시보드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743200" cy="438912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포트폴리오 현황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6060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DF5"/>
                </a:solidFill>
              </a:rPr>
              <a:t>Executive Summary
시그널 카드 + 원문 링크
즉시검토·동향주시 분류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371600"/>
            <a:ext cx="2743200" cy="438912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커뮤니케이션 초안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060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DF5"/>
                </a:solidFill>
              </a:rPr>
              <a:t>업체별 토글 UI
파트너사 업데이트 초안
1-클릭 복사·편집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2743200" cy="438912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Weekly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6060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DF5"/>
                </a:solidFill>
              </a:rPr>
              <a:t>7일 트렌드 히트맵
AI 인사이트 요약
TOP 3 시그널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72600" y="1371600"/>
            <a:ext cx="2743200" cy="438912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19202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0392B"/>
                </a:solidFill>
              </a:rPr>
              <a:t>Monthly 리포트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606040"/>
            <a:ext cx="2468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8EDF5"/>
                </a:solidFill>
              </a:rPr>
              <a:t>Executive Summary
리스크 등급 매트릭스
권고 액션 (이사회용)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BDC3C7"/>
                </a:solidFill>
              </a:rPr>
              <a:t>dashboard.html — 브라우저에서 바로 실행, 별도 서버 불필요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07  향후 로드맵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1  |  현재 완료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657600" cy="4023360"/>
          </a:xfrm>
          <a:prstGeom prst="rect">
            <a:avLst/>
          </a:prstGeom>
          <a:solidFill>
            <a:srgbClr val="1E2A45"/>
          </a:solidFill>
          <a:ln w="63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 13개사 자동 뉴스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2491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Groq AI 분류 + 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9584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Telegram + 이메일 알림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34256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통합 대시보드 4탭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188720"/>
            <a:ext cx="3657600" cy="548640"/>
          </a:xfrm>
          <a:prstGeom prst="rect">
            <a:avLst/>
          </a:prstGeom>
          <a:solidFill>
            <a:srgbClr val="2C7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  |  2025 Q3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1737360"/>
            <a:ext cx="3657600" cy="4023360"/>
          </a:xfrm>
          <a:prstGeom prst="rect">
            <a:avLst/>
          </a:prstGeom>
          <a:solidFill>
            <a:srgbClr val="1E2A45"/>
          </a:solidFill>
          <a:ln w="6350">
            <a:solidFill>
              <a:srgbClr val="2C7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 펀드 포트폴리오 확장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2491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해외 파트너사 모니터링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529584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SEC·공시 데이터 연동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4334256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Slack 알림 채널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0" y="1188720"/>
            <a:ext cx="365760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188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  |  2025 Q4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737360"/>
            <a:ext cx="3657600" cy="4023360"/>
          </a:xfrm>
          <a:prstGeom prst="rect">
            <a:avLst/>
          </a:prstGeom>
          <a:solidFill>
            <a:srgbClr val="1E2A4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59" y="1920240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✓  예측 분석 모델 도입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2724912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벤치마크 비교 자동화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3529584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IR 자료 자동 생성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9" y="4334256"/>
            <a:ext cx="3383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8EDF5"/>
                </a:solidFill>
              </a:rPr>
              <a:t>✓  LP 보고서 워크플로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Portfolio Intelligence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8EDF5"/>
                </a:solidFill>
              </a:rPr>
              <a:t>포트폴리오 모니터링의 새로운 기준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108960"/>
            <a:ext cx="4114800" cy="45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720" y="3429000"/>
            <a:ext cx="22860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3429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13개사 동시 모니터링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3429000"/>
            <a:ext cx="22860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3429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AI 기반 자동 분류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3429000"/>
            <a:ext cx="22860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3429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실시간 알림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3429000"/>
            <a:ext cx="228600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34290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무료 운영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292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DC3C7"/>
                </a:solidFill>
              </a:rPr>
              <a:t>사업개발팀  |  yonhongso@gmail.com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607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C0392B"/>
                </a:solidFill>
              </a:rPr>
              <a:t>Confidential —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